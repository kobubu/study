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8" r:id="rId2"/>
    <p:sldId id="427" r:id="rId3"/>
    <p:sldId id="367" r:id="rId4"/>
    <p:sldId id="361" r:id="rId5"/>
    <p:sldId id="432" r:id="rId6"/>
    <p:sldId id="433" r:id="rId7"/>
    <p:sldId id="434" r:id="rId8"/>
    <p:sldId id="435" r:id="rId9"/>
    <p:sldId id="436" r:id="rId10"/>
    <p:sldId id="437" r:id="rId11"/>
    <p:sldId id="438" r:id="rId12"/>
    <p:sldId id="439" r:id="rId13"/>
    <p:sldId id="440" r:id="rId14"/>
    <p:sldId id="441" r:id="rId15"/>
    <p:sldId id="442" r:id="rId16"/>
    <p:sldId id="443" r:id="rId17"/>
    <p:sldId id="444" r:id="rId18"/>
    <p:sldId id="445" r:id="rId19"/>
    <p:sldId id="446" r:id="rId20"/>
    <p:sldId id="429" r:id="rId21"/>
    <p:sldId id="447" r:id="rId22"/>
    <p:sldId id="448" r:id="rId23"/>
    <p:sldId id="449" r:id="rId24"/>
    <p:sldId id="428" r:id="rId25"/>
    <p:sldId id="450" r:id="rId26"/>
    <p:sldId id="451" r:id="rId27"/>
    <p:sldId id="452" r:id="rId28"/>
    <p:sldId id="453" r:id="rId29"/>
    <p:sldId id="277" r:id="rId30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E915"/>
    <a:srgbClr val="FEF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97" d="100"/>
          <a:sy n="197" d="100"/>
        </p:scale>
        <p:origin x="666" y="15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3D4D0-1964-467A-84AE-EA9A33292BC7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B40BD-6527-4D2E-BAF4-A8B483AFAC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31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01450" y="302400"/>
            <a:ext cx="2683774" cy="3933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7575" y="195145"/>
            <a:ext cx="8568849" cy="1068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FA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7B7B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4450" y="298800"/>
            <a:ext cx="2709550" cy="3971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4309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273" y="540000"/>
            <a:ext cx="7821455" cy="406350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>
  <p:cSld name="Титульный слайд">
    <p:bg>
      <p:bgPr>
        <a:solidFill>
          <a:srgbClr val="005FAF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 title="Skillfactory_длинный_инверсия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25630" y="4283050"/>
            <a:ext cx="1743925" cy="148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3" title="Без-коня-без-дескриптора-(инверсия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23702" y="3694918"/>
            <a:ext cx="1542424" cy="108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3"/>
          <p:cNvSpPr txBox="1"/>
          <p:nvPr/>
        </p:nvSpPr>
        <p:spPr>
          <a:xfrm rot="2700000">
            <a:off x="7308739" y="4159926"/>
            <a:ext cx="300803" cy="40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86720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8250" y="249282"/>
            <a:ext cx="8487499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18181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0725" y="913921"/>
            <a:ext cx="8342548" cy="2339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B7B7B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6ZjYcy76wsY1MTF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yandex.cloud/ru/docs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yandex.cloud/ru/docs/storage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yandex.cloud/ru/docs/managed-kubernetes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yandex.cloud/ru/docs/managed-postgresql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yandex.cloud/ru/docs/managed-kafka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cloud.vk.com/docs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cloud.vk.com/docs/ru/storage/s3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cloud.vk.com/containers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cloud.vk.com/databases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cloud.vk.com/kafka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cloud.ru/docs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cloud.ru/docs/s3e/ug/index?source-platform=Evolution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cloud.ru/docs/cce/ug/index?source-platform=Advanced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cloud.ru/docs/rds/ug/index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cloud.ru/docs/paas-kafka/ug/index?source-platform=Evolution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companies/selectel/articles/947246/" TargetMode="External"/><Relationship Id="rId2" Type="http://schemas.openxmlformats.org/officeDocument/2006/relationships/hyperlink" Target="https://selectel.ru/services/cloud/servers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hyperlink" Target="https://beget.com/ru/cloud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articles/455353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ystem-design/stateless-and-stateful-systems-in-system-design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com/@ermakovichdmitriy/%D0%BE%D0%BF%D1%80%D0%B5%D0%B4%D0%B5%D0%BB%D0%B5%D0%BD%D0%B8%D1%8F-%D0%BF%D0%BE%D0%BD%D1%8F%D1%82%D0%B8%D0%B9-stateful-%D0%B8-stateless-%D0%B2-%D0%BA%D0%BE%D0%BD%D1%82%D0%B5%D0%BA%D1%81%D1%82%D0%B5-%D0%B2%D0%B5%D0%B1-%D1%81%D0%B5%D1%80%D0%B2%D0%B8%D1%81%D0%BE%D0%B2-%D0%BF%D0%B5%D1%80%D0%B5%D0%B2%D0%BE%D0%B4-18a910a226a1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/>
        </p:nvSpPr>
        <p:spPr>
          <a:xfrm>
            <a:off x="1371600" y="4078856"/>
            <a:ext cx="3901199" cy="112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2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Некрасов Константин Олегович</a:t>
            </a: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20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Директор по разработке ML-моделей  </a:t>
            </a: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20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АО «Газпромбанк»</a:t>
            </a:r>
            <a:endParaRPr lang="en-US" sz="120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r>
              <a:rPr lang="ru-RU" sz="120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Блог: </a:t>
            </a:r>
            <a:r>
              <a:rPr lang="en-US" sz="1200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Labalgo</a:t>
            </a:r>
            <a:endParaRPr lang="en-US" sz="1200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FEFFFF"/>
              </a:buClr>
              <a:buSzPts val="1300"/>
              <a:buFont typeface="Arial"/>
              <a:buNone/>
            </a:pPr>
            <a:endParaRPr lang="ru-RU" sz="12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38;p8"/>
          <p:cNvSpPr txBox="1"/>
          <p:nvPr/>
        </p:nvSpPr>
        <p:spPr>
          <a:xfrm>
            <a:off x="414000" y="200729"/>
            <a:ext cx="8316000" cy="173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 b="1" i="0" u="none" strike="noStrike" cap="none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Автоматизация процессов доставки и развертывания </a:t>
            </a:r>
            <a:r>
              <a:rPr lang="en-US" sz="4000" b="1" i="0" u="none" strike="noStrike" cap="none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ML-</a:t>
            </a:r>
            <a:r>
              <a:rPr lang="ru-RU" sz="4000" b="1" i="0" u="none" strike="noStrike" cap="none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моделей</a:t>
            </a:r>
            <a:endParaRPr sz="4000" b="1" i="0" u="none" strike="noStrike" cap="none" dirty="0">
              <a:solidFill>
                <a:schemeClr val="lt1"/>
              </a:solidFill>
              <a:latin typeface="Verdana" panose="020B0604030504040204" pitchFamily="34" charset="0"/>
              <a:ea typeface="Verdana" panose="020B0604030504040204" pitchFamily="34" charset="0"/>
              <a:cs typeface="Montserrat"/>
              <a:sym typeface="Montserrat"/>
            </a:endParaRPr>
          </a:p>
        </p:txBody>
      </p:sp>
      <p:sp>
        <p:nvSpPr>
          <p:cNvPr id="39" name="Google Shape;39;p8"/>
          <p:cNvSpPr txBox="1"/>
          <p:nvPr/>
        </p:nvSpPr>
        <p:spPr>
          <a:xfrm>
            <a:off x="1295400" y="3028950"/>
            <a:ext cx="6798000" cy="737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Выбор и настройка 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4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инфраструктуры</a:t>
            </a:r>
            <a:endParaRPr sz="24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" name="Google Shape;4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2148000"/>
            <a:ext cx="9144000" cy="22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2900" y="236882"/>
            <a:ext cx="2202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План</a:t>
            </a:r>
            <a:r>
              <a:rPr spc="-215" dirty="0"/>
              <a:t> </a:t>
            </a:r>
            <a:r>
              <a:rPr spc="20" dirty="0"/>
              <a:t>занятия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7360" y="794030"/>
            <a:ext cx="8283240" cy="20855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5134" indent="-360045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r>
              <a:rPr lang="ru-RU" sz="1800" spc="160" dirty="0">
                <a:solidFill>
                  <a:srgbClr val="181818"/>
                </a:solidFill>
                <a:latin typeface="Verdana"/>
                <a:cs typeface="Verdana"/>
              </a:rPr>
              <a:t>Обзор облачных платформ</a:t>
            </a:r>
          </a:p>
          <a:p>
            <a:pPr marL="445134" indent="-360045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r>
              <a:rPr lang="ru-RU" sz="1800" spc="160" dirty="0">
                <a:solidFill>
                  <a:srgbClr val="181818"/>
                </a:solidFill>
                <a:latin typeface="Verdana"/>
                <a:cs typeface="Verdana"/>
              </a:rPr>
              <a:t>Типы вычислительных ресурсов</a:t>
            </a:r>
          </a:p>
          <a:p>
            <a:pPr marL="445134" indent="-360045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r>
              <a:rPr lang="ru-RU" sz="1800" spc="160" dirty="0">
                <a:solidFill>
                  <a:srgbClr val="181818"/>
                </a:solidFill>
                <a:latin typeface="Verdana"/>
                <a:cs typeface="Verdana"/>
              </a:rPr>
              <a:t>Архитектура: </a:t>
            </a:r>
            <a:r>
              <a:rPr lang="en-US" sz="1800" spc="160" dirty="0">
                <a:solidFill>
                  <a:srgbClr val="181818"/>
                </a:solidFill>
                <a:latin typeface="Verdana"/>
                <a:cs typeface="Verdana"/>
              </a:rPr>
              <a:t>Stateless vs Stateful</a:t>
            </a:r>
          </a:p>
          <a:p>
            <a:pPr marL="445134" indent="-360045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endParaRPr lang="en-US" sz="1800" spc="160" dirty="0">
              <a:solidFill>
                <a:srgbClr val="181818"/>
              </a:solidFill>
              <a:latin typeface="Verdana"/>
              <a:cs typeface="Verdana"/>
            </a:endParaRPr>
          </a:p>
          <a:p>
            <a:pPr marL="445134" indent="-360045">
              <a:lnSpc>
                <a:spcPct val="150000"/>
              </a:lnSpc>
              <a:spcBef>
                <a:spcPts val="100"/>
              </a:spcBef>
              <a:buAutoNum type="arabicPeriod"/>
              <a:tabLst>
                <a:tab pos="445134" algn="l"/>
                <a:tab pos="445770" algn="l"/>
              </a:tabLst>
            </a:pPr>
            <a:endParaRPr lang="en-US" sz="1800" spc="160" dirty="0">
              <a:solidFill>
                <a:srgbClr val="181818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E4B4B273-1927-433E-869A-6149AEF576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EBAEA-E2E1-4303-8760-65BF05FC3358}"/>
              </a:ext>
            </a:extLst>
          </p:cNvPr>
          <p:cNvSpPr txBox="1"/>
          <p:nvPr/>
        </p:nvSpPr>
        <p:spPr>
          <a:xfrm>
            <a:off x="876300" y="2114550"/>
            <a:ext cx="73914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ctr">
              <a:buAutoNum type="arabicPeriod"/>
            </a:pPr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Обзор облачных </a:t>
            </a:r>
          </a:p>
          <a:p>
            <a:pPr algn="ctr"/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платформ</a:t>
            </a:r>
          </a:p>
          <a:p>
            <a:pPr algn="ctr"/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323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166719"/>
            <a:ext cx="64770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Yandex Cloud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43ACDAC-E08C-43E4-A37B-2C44E01A49BD}"/>
              </a:ext>
            </a:extLst>
          </p:cNvPr>
          <p:cNvSpPr txBox="1"/>
          <p:nvPr/>
        </p:nvSpPr>
        <p:spPr>
          <a:xfrm>
            <a:off x="347662" y="2196561"/>
            <a:ext cx="7772400" cy="1039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Одно из крупнейших облачных хранилищ данных в российской системе, создано и усовершенствовано благодаря технологиям Яндекса.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5631372" y="234203"/>
            <a:ext cx="3259375" cy="500031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C531C5-C500-4AE5-9C9E-B9DB7FF7C66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24000" y="2362200"/>
            <a:ext cx="5562600" cy="2781300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E8EEA073-A11F-4795-AD9B-22D57D722C36}"/>
              </a:ext>
            </a:extLst>
          </p:cNvPr>
          <p:cNvSpPr txBox="1"/>
          <p:nvPr/>
        </p:nvSpPr>
        <p:spPr>
          <a:xfrm>
            <a:off x="159657" y="4579070"/>
            <a:ext cx="7772400" cy="331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* 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Verdana"/>
                <a:hlinkClick r:id="rId3"/>
              </a:rPr>
              <a:t>Документация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896667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17865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API сервиса совместим с API Amazon S3 интерфейсом.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Есть возможность выбора класса:</a:t>
            </a: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4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b="1" dirty="0">
                <a:latin typeface="Verdana"/>
                <a:cs typeface="Verdana"/>
              </a:rPr>
              <a:t>Стандартное хранилище</a:t>
            </a:r>
            <a:r>
              <a:rPr lang="ru-RU" sz="1400" dirty="0">
                <a:latin typeface="Verdana"/>
                <a:cs typeface="Verdana"/>
              </a:rPr>
              <a:t> – для активной работы с объектами;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b="1" dirty="0">
                <a:latin typeface="Verdana"/>
                <a:cs typeface="Verdana"/>
              </a:rPr>
              <a:t>Холодное хранилище</a:t>
            </a:r>
            <a:r>
              <a:rPr lang="ru-RU" sz="1400" dirty="0">
                <a:latin typeface="Verdana"/>
                <a:cs typeface="Verdana"/>
              </a:rPr>
              <a:t> – для длительного хранения объектов с редкими запросами на чтение.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Yandex Object Storage</a:t>
            </a:r>
            <a:endParaRPr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536E53-2DCE-43BC-AAA2-DE6B3A70758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EF1F8"/>
              </a:clrFrom>
              <a:clrTo>
                <a:srgbClr val="EEF1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67400" y="1671051"/>
            <a:ext cx="2734057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070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20343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Позволяет управлять узлами напрямую, а также </a:t>
            </a: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настраивать кластер </a:t>
            </a:r>
            <a:r>
              <a:rPr lang="ru-RU" sz="1400" dirty="0" err="1">
                <a:latin typeface="Verdana"/>
                <a:cs typeface="Verdana"/>
              </a:rPr>
              <a:t>Kubernetes</a:t>
            </a:r>
            <a:r>
              <a:rPr lang="ru-RU" sz="1400" dirty="0">
                <a:latin typeface="Verdana"/>
                <a:cs typeface="Verdana"/>
              </a:rPr>
              <a:t>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Мастер, управляющий кластером </a:t>
            </a:r>
            <a:r>
              <a:rPr lang="ru-RU" sz="1400" dirty="0" err="1">
                <a:latin typeface="Verdana"/>
                <a:cs typeface="Verdana"/>
              </a:rPr>
              <a:t>Kubernetes</a:t>
            </a:r>
            <a:r>
              <a:rPr lang="ru-RU" sz="1400" dirty="0">
                <a:latin typeface="Verdana"/>
                <a:cs typeface="Verdana"/>
              </a:rPr>
              <a:t>, бывает двух типов: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4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b="1" dirty="0">
                <a:latin typeface="Verdana"/>
                <a:cs typeface="Verdana"/>
              </a:rPr>
              <a:t>Зональный </a:t>
            </a:r>
            <a:r>
              <a:rPr lang="ru-RU" sz="1400" dirty="0">
                <a:latin typeface="Verdana"/>
                <a:cs typeface="Verdana"/>
              </a:rPr>
              <a:t>создается в подсети одной зоны доступности;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b="1" dirty="0">
                <a:latin typeface="Verdana"/>
                <a:cs typeface="Verdana"/>
              </a:rPr>
              <a:t>Региональный </a:t>
            </a:r>
            <a:r>
              <a:rPr lang="ru-RU" sz="1400" dirty="0">
                <a:latin typeface="Verdana"/>
                <a:cs typeface="Verdana"/>
              </a:rPr>
              <a:t>создается </a:t>
            </a:r>
            <a:r>
              <a:rPr lang="ru-RU" sz="1400" dirty="0" err="1">
                <a:latin typeface="Verdana"/>
                <a:cs typeface="Verdana"/>
              </a:rPr>
              <a:t>распределенно</a:t>
            </a:r>
            <a:r>
              <a:rPr lang="ru-RU" sz="1400" dirty="0">
                <a:latin typeface="Verdana"/>
                <a:cs typeface="Verdana"/>
              </a:rPr>
              <a:t> – при недоступности одной из зон остается работоспособным.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Yandex Managed Service for Kubernetes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C631EC3-B5DD-4F0A-8A61-B0FAFFD83CD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EF1F8"/>
              </a:clrFrom>
              <a:clrTo>
                <a:srgbClr val="EEF1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91200" y="1504950"/>
            <a:ext cx="2781688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04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1278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Позволяет работать с кластерами базы данных</a:t>
            </a: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 err="1">
                <a:latin typeface="Verdana"/>
                <a:cs typeface="Verdana"/>
              </a:rPr>
              <a:t>PostgreSQL</a:t>
            </a:r>
            <a:r>
              <a:rPr lang="ru-RU" sz="1400" dirty="0">
                <a:latin typeface="Verdana"/>
                <a:cs typeface="Verdana"/>
              </a:rPr>
              <a:t> 13, 14, 15, 16, 17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Позволяет работать с кластерами базы данных</a:t>
            </a: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 err="1">
                <a:latin typeface="Verdana"/>
                <a:cs typeface="Verdana"/>
              </a:rPr>
              <a:t>PostgreSQL</a:t>
            </a:r>
            <a:r>
              <a:rPr lang="ru-RU" sz="1400" dirty="0">
                <a:latin typeface="Verdana"/>
                <a:cs typeface="Verdana"/>
              </a:rPr>
              <a:t> 13, 14, 15, 16</a:t>
            </a:r>
            <a:r>
              <a:rPr lang="en-US" sz="1400" dirty="0">
                <a:latin typeface="Verdana"/>
                <a:cs typeface="Verdana"/>
              </a:rPr>
              <a:t> </a:t>
            </a:r>
            <a:r>
              <a:rPr lang="ru-RU" sz="1400" b="1" dirty="0">
                <a:latin typeface="Verdana"/>
                <a:cs typeface="Verdana"/>
              </a:rPr>
              <a:t>для 1С</a:t>
            </a:r>
            <a:endParaRPr lang="en-US" sz="1400" b="1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Yandex Managed Service for PostgreSQL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E23EA7-9AFF-4D74-847C-58FA70E3D54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EF1F8"/>
              </a:clrFrom>
              <a:clrTo>
                <a:srgbClr val="EEF1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91200" y="1504950"/>
            <a:ext cx="2724530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178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22949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Поддерживаемый кластер серверов Apache </a:t>
            </a:r>
            <a:r>
              <a:rPr lang="ru-RU" sz="1400" dirty="0" err="1">
                <a:latin typeface="Verdana"/>
                <a:cs typeface="Verdana"/>
              </a:rPr>
              <a:t>Kafka</a:t>
            </a:r>
            <a:r>
              <a:rPr lang="ru-RU" sz="1400" b="0" i="0" dirty="0">
                <a:solidFill>
                  <a:srgbClr val="333333"/>
                </a:solidFill>
                <a:effectLst/>
                <a:latin typeface="-apple-system"/>
              </a:rPr>
              <a:t>®</a:t>
            </a: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В зависимости от количества хостов-брокеров 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в нем автоматически настраивается и размещается </a:t>
            </a:r>
            <a:r>
              <a:rPr lang="ru-RU" sz="1400" dirty="0" err="1">
                <a:latin typeface="Verdana"/>
                <a:cs typeface="Verdana"/>
              </a:rPr>
              <a:t>ZooKeeper</a:t>
            </a:r>
            <a:r>
              <a:rPr lang="ru-RU" sz="1400" dirty="0">
                <a:latin typeface="Verdana"/>
                <a:cs typeface="Verdana"/>
              </a:rPr>
              <a:t>: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кластер состоит из </a:t>
            </a:r>
            <a:r>
              <a:rPr lang="ru-RU" sz="1400" b="1" dirty="0">
                <a:latin typeface="Verdana"/>
                <a:cs typeface="Verdana"/>
              </a:rPr>
              <a:t>одного хоста</a:t>
            </a:r>
            <a:r>
              <a:rPr lang="ru-RU" sz="1400" dirty="0">
                <a:latin typeface="Verdana"/>
                <a:cs typeface="Verdana"/>
              </a:rPr>
              <a:t> – </a:t>
            </a:r>
            <a:r>
              <a:rPr lang="ru-RU" sz="1400" dirty="0" err="1">
                <a:latin typeface="Verdana"/>
                <a:cs typeface="Verdana"/>
              </a:rPr>
              <a:t>ZooKeeper</a:t>
            </a:r>
            <a:r>
              <a:rPr lang="ru-RU" sz="1400" dirty="0">
                <a:latin typeface="Verdana"/>
                <a:cs typeface="Verdana"/>
              </a:rPr>
              <a:t> размещается </a:t>
            </a:r>
            <a:r>
              <a:rPr lang="ru-RU" sz="1400" b="1" dirty="0">
                <a:latin typeface="Verdana"/>
                <a:cs typeface="Verdana"/>
              </a:rPr>
              <a:t>на нем</a:t>
            </a:r>
            <a:r>
              <a:rPr lang="ru-RU" sz="1400" dirty="0">
                <a:latin typeface="Verdana"/>
                <a:cs typeface="Verdana"/>
              </a:rPr>
              <a:t> же;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в </a:t>
            </a:r>
            <a:r>
              <a:rPr lang="ru-RU" sz="1400" b="1" dirty="0">
                <a:latin typeface="Verdana"/>
                <a:cs typeface="Verdana"/>
              </a:rPr>
              <a:t>ином случае</a:t>
            </a:r>
            <a:r>
              <a:rPr lang="ru-RU" sz="1400" dirty="0">
                <a:latin typeface="Verdana"/>
                <a:cs typeface="Verdana"/>
              </a:rPr>
              <a:t> – </a:t>
            </a:r>
            <a:r>
              <a:rPr lang="ru-RU" sz="1400" dirty="0" err="1">
                <a:latin typeface="Verdana"/>
                <a:cs typeface="Verdana"/>
              </a:rPr>
              <a:t>ZooKeeper</a:t>
            </a:r>
            <a:r>
              <a:rPr lang="ru-RU" sz="1400" dirty="0">
                <a:latin typeface="Verdana"/>
                <a:cs typeface="Verdana"/>
              </a:rPr>
              <a:t> будет размещен отдельно от брокеров </a:t>
            </a:r>
            <a:r>
              <a:rPr lang="ru-RU" sz="1400" b="1" dirty="0">
                <a:latin typeface="Verdana"/>
                <a:cs typeface="Verdana"/>
              </a:rPr>
              <a:t>на трех дополнительных хостах</a:t>
            </a:r>
            <a:r>
              <a:rPr lang="ru-RU" sz="1400" dirty="0">
                <a:latin typeface="Verdana"/>
                <a:cs typeface="Verdana"/>
              </a:rPr>
              <a:t>, они добавляются в кластер автоматически. </a:t>
            </a:r>
            <a:endParaRPr lang="en-US" sz="1400" b="1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Yandex Managed Service for Apache Kafka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6888D68-6BE2-4986-A52E-F1867FFD103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EF1F8"/>
              </a:clrFrom>
              <a:clrTo>
                <a:srgbClr val="EEF1F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38800" y="1428750"/>
            <a:ext cx="2743583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956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166719"/>
            <a:ext cx="64770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VK Cloud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43ACDAC-E08C-43E4-A37B-2C44E01A49BD}"/>
              </a:ext>
            </a:extLst>
          </p:cNvPr>
          <p:cNvSpPr txBox="1"/>
          <p:nvPr/>
        </p:nvSpPr>
        <p:spPr>
          <a:xfrm>
            <a:off x="347662" y="2196561"/>
            <a:ext cx="7772400" cy="1039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Платформа с широким набором облачных сервисов для эффективной разработки и работы с данными для компаний любого масштаба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5631372" y="234203"/>
            <a:ext cx="3259375" cy="500031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E8EEA073-A11F-4795-AD9B-22D57D722C36}"/>
              </a:ext>
            </a:extLst>
          </p:cNvPr>
          <p:cNvSpPr txBox="1"/>
          <p:nvPr/>
        </p:nvSpPr>
        <p:spPr>
          <a:xfrm>
            <a:off x="159657" y="4579070"/>
            <a:ext cx="7772400" cy="331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* 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Verdana"/>
                <a:hlinkClick r:id="rId2"/>
              </a:rPr>
              <a:t>Документация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1C46748-4572-4DA1-A8A4-60FCF333D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165" y="3400707"/>
            <a:ext cx="5586413" cy="128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803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22949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Объектное хранилище с поддержкой S3 API, которое обеспечивает надежное масштабируемое хранение и стабильную скорость раздачи любых объектов независимо от числа одновременных обращений</a:t>
            </a: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При создании </a:t>
            </a:r>
            <a:r>
              <a:rPr lang="ru-RU" sz="1400" dirty="0" err="1">
                <a:latin typeface="Verdana"/>
                <a:cs typeface="Verdana"/>
              </a:rPr>
              <a:t>бакета</a:t>
            </a:r>
            <a:r>
              <a:rPr lang="ru-RU" sz="1400" dirty="0">
                <a:latin typeface="Verdana"/>
                <a:cs typeface="Verdana"/>
              </a:rPr>
              <a:t> доступен выбор его типа: </a:t>
            </a: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b="1" dirty="0">
                <a:latin typeface="Verdana"/>
                <a:cs typeface="Verdana"/>
              </a:rPr>
              <a:t>холодное</a:t>
            </a:r>
            <a:r>
              <a:rPr lang="ru-RU" sz="1400" dirty="0">
                <a:latin typeface="Verdana"/>
                <a:cs typeface="Verdana"/>
              </a:rPr>
              <a:t> хранилище;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b="1" dirty="0">
                <a:latin typeface="Verdana"/>
                <a:cs typeface="Verdana"/>
              </a:rPr>
              <a:t>горячее</a:t>
            </a:r>
            <a:r>
              <a:rPr lang="ru-RU" sz="1400" dirty="0">
                <a:latin typeface="Verdana"/>
                <a:cs typeface="Verdana"/>
              </a:rPr>
              <a:t> хранилище; 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en-US" sz="1400" b="1" dirty="0">
                <a:latin typeface="Verdana"/>
                <a:cs typeface="Verdana"/>
              </a:rPr>
              <a:t>backup.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VK Object Storage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23B05D-9F2E-41B6-B5D2-42DC559B7F4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57800" y="1807331"/>
            <a:ext cx="3616938" cy="93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53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2803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Объектное хранилище с поддержкой S3 API, которое обеспечивает надежное масштабируемое хранение и стабильную скорость раздачи любых объектов независимо от числа одновременных обращений</a:t>
            </a: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solidFill>
                  <a:srgbClr val="333333"/>
                </a:solidFill>
                <a:latin typeface="Verdana"/>
              </a:rPr>
              <a:t>Есть </a:t>
            </a:r>
            <a:r>
              <a:rPr lang="ru-RU" sz="1400" dirty="0" err="1">
                <a:solidFill>
                  <a:srgbClr val="333333"/>
                </a:solidFill>
                <a:latin typeface="Verdana"/>
              </a:rPr>
              <a:t>преднастроенные</a:t>
            </a:r>
            <a:r>
              <a:rPr lang="ru-RU" sz="1400" dirty="0">
                <a:solidFill>
                  <a:srgbClr val="333333"/>
                </a:solidFill>
                <a:latin typeface="Verdana"/>
              </a:rPr>
              <a:t> типы сред, которые отличаются параметрами масштабирования и активированными расширениями: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b="1" dirty="0" err="1">
                <a:latin typeface="Verdana"/>
                <a:cs typeface="Verdana"/>
              </a:rPr>
              <a:t>Dev</a:t>
            </a:r>
            <a:r>
              <a:rPr lang="ru-RU" sz="1400" b="1" dirty="0">
                <a:latin typeface="Verdana"/>
                <a:cs typeface="Verdana"/>
              </a:rPr>
              <a:t> – </a:t>
            </a:r>
            <a:r>
              <a:rPr lang="ru-RU" sz="1400" dirty="0">
                <a:latin typeface="Verdana"/>
                <a:cs typeface="Verdana"/>
              </a:rPr>
              <a:t>разработка;</a:t>
            </a:r>
            <a:r>
              <a:rPr lang="ru-RU" sz="1400" b="1" dirty="0">
                <a:latin typeface="Verdana"/>
                <a:cs typeface="Verdana"/>
              </a:rPr>
              <a:t> 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b="1" dirty="0" err="1">
                <a:latin typeface="Verdana"/>
                <a:cs typeface="Verdana"/>
              </a:rPr>
              <a:t>Staging</a:t>
            </a:r>
            <a:r>
              <a:rPr lang="ru-RU" sz="1400" b="1" dirty="0">
                <a:latin typeface="Verdana"/>
                <a:cs typeface="Verdana"/>
              </a:rPr>
              <a:t> – </a:t>
            </a:r>
            <a:r>
              <a:rPr lang="ru-RU" sz="1400" dirty="0" err="1">
                <a:latin typeface="Verdana"/>
                <a:cs typeface="Verdana"/>
              </a:rPr>
              <a:t>предрелизная</a:t>
            </a:r>
            <a:r>
              <a:rPr lang="ru-RU" sz="1400" dirty="0">
                <a:latin typeface="Verdana"/>
                <a:cs typeface="Verdana"/>
              </a:rPr>
              <a:t> среда</a:t>
            </a:r>
            <a:r>
              <a:rPr lang="ru-RU" sz="1400" b="1" dirty="0">
                <a:latin typeface="Verdana"/>
                <a:cs typeface="Verdana"/>
              </a:rPr>
              <a:t>; 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b="1" dirty="0">
                <a:latin typeface="Verdana"/>
                <a:cs typeface="Verdana"/>
              </a:rPr>
              <a:t>Production – </a:t>
            </a:r>
            <a:r>
              <a:rPr lang="ru-RU" sz="1400" dirty="0">
                <a:latin typeface="Verdana"/>
                <a:cs typeface="Verdana"/>
              </a:rPr>
              <a:t>«боевое» или «живое» окружение</a:t>
            </a:r>
            <a:r>
              <a:rPr lang="ru-RU" sz="1400" b="1" dirty="0">
                <a:latin typeface="Verdana"/>
                <a:cs typeface="Verdana"/>
              </a:rPr>
              <a:t>. </a:t>
            </a:r>
            <a:endParaRPr lang="en-US" sz="1400" b="1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VK Cloud Containers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5FF1ED3-6624-415F-BD9C-F0F5E6B276E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57800" y="1909654"/>
            <a:ext cx="3553727" cy="73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299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10048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Позволяет развернуть в облаке решения на основе </a:t>
            </a:r>
            <a:r>
              <a:rPr lang="en-US" sz="1400" dirty="0">
                <a:latin typeface="Verdana"/>
                <a:cs typeface="Verdana"/>
              </a:rPr>
              <a:t>MySQL, PostgreSQL, MongoDB, Redis, </a:t>
            </a:r>
            <a:r>
              <a:rPr lang="en-US" sz="1400" dirty="0" err="1">
                <a:latin typeface="Verdana"/>
                <a:cs typeface="Verdana"/>
              </a:rPr>
              <a:t>ClickHouse</a:t>
            </a:r>
            <a:r>
              <a:rPr lang="en-US" sz="1400" dirty="0">
                <a:latin typeface="Verdana"/>
                <a:cs typeface="Verdana"/>
              </a:rPr>
              <a:t>, </a:t>
            </a:r>
            <a:r>
              <a:rPr lang="en-US" sz="1400" dirty="0" err="1">
                <a:latin typeface="Verdana"/>
                <a:cs typeface="Verdana"/>
              </a:rPr>
              <a:t>ArenaData</a:t>
            </a:r>
            <a:r>
              <a:rPr lang="en-US" sz="1400" dirty="0">
                <a:latin typeface="Verdana"/>
                <a:cs typeface="Verdana"/>
              </a:rPr>
              <a:t>, </a:t>
            </a:r>
            <a:r>
              <a:rPr lang="en-US" sz="1400" dirty="0" err="1">
                <a:latin typeface="Verdana"/>
                <a:cs typeface="Verdana"/>
              </a:rPr>
              <a:t>Tarantool</a:t>
            </a:r>
            <a:endParaRPr lang="ru-RU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400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VK Cloud Databases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4C10F4-94DA-48C3-A24C-42C588F35B3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05400" y="1838223"/>
            <a:ext cx="4105848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750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0960" y="1352550"/>
            <a:ext cx="7989570" cy="20599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Распределенная платформа для передачи сообщений между приложениями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ru-RU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solidFill>
                  <a:srgbClr val="333333"/>
                </a:solidFill>
                <a:latin typeface="Verdana"/>
              </a:rPr>
              <a:t>Сервис </a:t>
            </a:r>
            <a:r>
              <a:rPr lang="ru-RU" sz="1400" dirty="0" err="1">
                <a:solidFill>
                  <a:srgbClr val="333333"/>
                </a:solidFill>
                <a:latin typeface="Verdana"/>
              </a:rPr>
              <a:t>Cloud</a:t>
            </a:r>
            <a:r>
              <a:rPr lang="ru-RU" sz="1400" dirty="0">
                <a:solidFill>
                  <a:srgbClr val="333333"/>
                </a:solidFill>
                <a:latin typeface="Verdana"/>
              </a:rPr>
              <a:t> </a:t>
            </a:r>
            <a:r>
              <a:rPr lang="ru-RU" sz="1400" dirty="0" err="1">
                <a:solidFill>
                  <a:srgbClr val="333333"/>
                </a:solidFill>
                <a:latin typeface="Verdana"/>
              </a:rPr>
              <a:t>Kafka</a:t>
            </a:r>
            <a:r>
              <a:rPr lang="ru-RU" sz="1400" dirty="0">
                <a:solidFill>
                  <a:srgbClr val="333333"/>
                </a:solidFill>
                <a:latin typeface="Verdana"/>
              </a:rPr>
              <a:t> автоматизирует процессы: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развертывание инфраструктуры под экземпляр сервиса;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эффективное распределение ресурсов кластера;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масштабирование ресурсов экземпляра сервиса.</a:t>
            </a:r>
            <a:endParaRPr lang="en-US" sz="1400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VK Cloud Kafka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F23A415-899C-4EEC-9233-0CFE6F334EC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05400" y="1657350"/>
            <a:ext cx="3820058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633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166719"/>
            <a:ext cx="6477000" cy="1256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Sber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Cloud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(Cloud.ru)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43ACDAC-E08C-43E4-A37B-2C44E01A49BD}"/>
              </a:ext>
            </a:extLst>
          </p:cNvPr>
          <p:cNvSpPr txBox="1"/>
          <p:nvPr/>
        </p:nvSpPr>
        <p:spPr>
          <a:xfrm>
            <a:off x="347662" y="2196561"/>
            <a:ext cx="7772400" cy="331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SberCloud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 – 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компания-поставщик облачных услуг.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5631372" y="234203"/>
            <a:ext cx="3259375" cy="500031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E8EEA073-A11F-4795-AD9B-22D57D722C36}"/>
              </a:ext>
            </a:extLst>
          </p:cNvPr>
          <p:cNvSpPr txBox="1"/>
          <p:nvPr/>
        </p:nvSpPr>
        <p:spPr>
          <a:xfrm>
            <a:off x="159657" y="4579070"/>
            <a:ext cx="7772400" cy="331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* 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  <a:cs typeface="Verdana"/>
                <a:hlinkClick r:id="rId2"/>
              </a:rPr>
              <a:t>Документация</a:t>
            </a:r>
            <a:endParaRPr lang="ru-RU" sz="20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703D6DC-DBAB-4539-9EC6-4BF373311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700" y="1962150"/>
            <a:ext cx="4839343" cy="322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740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23077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При создании </a:t>
            </a:r>
            <a:r>
              <a:rPr lang="ru-RU" sz="1400" dirty="0" err="1">
                <a:latin typeface="Verdana"/>
                <a:cs typeface="Verdana"/>
              </a:rPr>
              <a:t>бакета</a:t>
            </a:r>
            <a:r>
              <a:rPr lang="ru-RU" sz="1400" dirty="0">
                <a:latin typeface="Verdana"/>
                <a:cs typeface="Verdana"/>
              </a:rPr>
              <a:t> можно выбрать классы «Стандартный», «Редкий доступ» и «Архив». </a:t>
            </a: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Помимо уровня доступа различается минимальный срок хранения: </a:t>
            </a: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для </a:t>
            </a:r>
            <a:r>
              <a:rPr lang="ru-RU" sz="1400" b="1" dirty="0">
                <a:latin typeface="Verdana"/>
                <a:cs typeface="Verdana"/>
              </a:rPr>
              <a:t>Стандартного</a:t>
            </a:r>
            <a:r>
              <a:rPr lang="ru-RU" sz="1400" dirty="0">
                <a:latin typeface="Verdana"/>
                <a:cs typeface="Verdana"/>
              </a:rPr>
              <a:t> – минимальный срок хранения не требуется;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для </a:t>
            </a:r>
            <a:r>
              <a:rPr lang="ru-RU" sz="1400" b="1" dirty="0">
                <a:latin typeface="Verdana"/>
                <a:cs typeface="Verdana"/>
              </a:rPr>
              <a:t>Редкого</a:t>
            </a:r>
            <a:r>
              <a:rPr lang="ru-RU" sz="1400" dirty="0">
                <a:latin typeface="Verdana"/>
                <a:cs typeface="Verdana"/>
              </a:rPr>
              <a:t> доступа – 30 дней; 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для </a:t>
            </a:r>
            <a:r>
              <a:rPr lang="ru-RU" sz="1400" b="1" dirty="0">
                <a:latin typeface="Verdana"/>
                <a:cs typeface="Verdana"/>
              </a:rPr>
              <a:t>Архива</a:t>
            </a:r>
            <a:r>
              <a:rPr lang="ru-RU" sz="1400" dirty="0">
                <a:latin typeface="Verdana"/>
                <a:cs typeface="Verdana"/>
              </a:rPr>
              <a:t> – 90 дней.</a:t>
            </a:r>
            <a:endParaRPr lang="en-US" sz="1400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Cloud Object Storage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1069487-95B1-4612-B2C3-3903AD525FF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81600" y="1658787"/>
            <a:ext cx="3733800" cy="73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172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2803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en-US" sz="1400" dirty="0">
                <a:latin typeface="Verdana"/>
                <a:cs typeface="Verdana"/>
              </a:rPr>
              <a:t>C</a:t>
            </a:r>
            <a:r>
              <a:rPr lang="ru-RU" sz="1400" dirty="0" err="1">
                <a:latin typeface="Verdana"/>
                <a:cs typeface="Verdana"/>
              </a:rPr>
              <a:t>ервис</a:t>
            </a:r>
            <a:r>
              <a:rPr lang="ru-RU" sz="1400" dirty="0">
                <a:latin typeface="Verdana"/>
                <a:cs typeface="Verdana"/>
              </a:rPr>
              <a:t>, который предоставляет масштабируемые, высокопроизводительные кластеры </a:t>
            </a:r>
            <a:r>
              <a:rPr lang="ru-RU" sz="1400" dirty="0" err="1">
                <a:latin typeface="Verdana"/>
                <a:cs typeface="Verdana"/>
              </a:rPr>
              <a:t>Kubernetes</a:t>
            </a:r>
            <a:r>
              <a:rPr lang="ru-RU" sz="1400" dirty="0">
                <a:latin typeface="Verdana"/>
                <a:cs typeface="Verdana"/>
              </a:rPr>
              <a:t> и поддерживает </a:t>
            </a:r>
            <a:r>
              <a:rPr lang="ru-RU" sz="1400" dirty="0" err="1">
                <a:latin typeface="Verdana"/>
                <a:cs typeface="Verdana"/>
              </a:rPr>
              <a:t>Docker</a:t>
            </a:r>
            <a:r>
              <a:rPr lang="ru-RU" sz="1400" dirty="0">
                <a:latin typeface="Verdana"/>
                <a:cs typeface="Verdana"/>
              </a:rPr>
              <a:t> для построения и запуска контейнеров. CCE позволяет легко разворачивать </a:t>
            </a:r>
            <a:r>
              <a:rPr lang="ru-RU" sz="1400" dirty="0" err="1">
                <a:latin typeface="Verdana"/>
                <a:cs typeface="Verdana"/>
              </a:rPr>
              <a:t>контейнеризированные</a:t>
            </a:r>
            <a:r>
              <a:rPr lang="ru-RU" sz="1400" dirty="0">
                <a:latin typeface="Verdana"/>
                <a:cs typeface="Verdana"/>
              </a:rPr>
              <a:t> приложения и управлять ими в публичном облаке.</a:t>
            </a: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В облаке Cloud.ru Advanced доступны кластеры двух типов: </a:t>
            </a: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en-US" sz="1400" dirty="0">
                <a:latin typeface="Verdana"/>
                <a:cs typeface="Verdana"/>
              </a:rPr>
              <a:t>CCE Standard</a:t>
            </a:r>
            <a:r>
              <a:rPr lang="ru-RU" sz="1400" dirty="0">
                <a:latin typeface="Verdana"/>
                <a:cs typeface="Verdana"/>
              </a:rPr>
              <a:t> (</a:t>
            </a:r>
            <a:r>
              <a:rPr lang="en-US" sz="1400" dirty="0">
                <a:latin typeface="Verdana"/>
                <a:cs typeface="Verdana"/>
              </a:rPr>
              <a:t>Container Tunnel Network</a:t>
            </a:r>
            <a:r>
              <a:rPr lang="ru-RU" sz="1400" dirty="0">
                <a:latin typeface="Verdana"/>
                <a:cs typeface="Verdana"/>
              </a:rPr>
              <a:t>, </a:t>
            </a:r>
            <a:r>
              <a:rPr lang="en-US" sz="1400" dirty="0">
                <a:latin typeface="Verdana"/>
                <a:cs typeface="Verdana"/>
              </a:rPr>
              <a:t>VPC Network</a:t>
            </a:r>
            <a:r>
              <a:rPr lang="ru-RU" sz="1400" dirty="0">
                <a:latin typeface="Verdana"/>
                <a:cs typeface="Verdana"/>
              </a:rPr>
              <a:t>)</a:t>
            </a:r>
            <a:endParaRPr lang="en-US" sz="14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en-US" sz="1400" dirty="0">
                <a:latin typeface="Verdana"/>
                <a:cs typeface="Verdana"/>
              </a:rPr>
              <a:t>CCE Turbo</a:t>
            </a:r>
            <a:r>
              <a:rPr lang="ru-RU" sz="1400" dirty="0">
                <a:latin typeface="Verdana"/>
                <a:cs typeface="Verdana"/>
              </a:rPr>
              <a:t> (</a:t>
            </a:r>
            <a:r>
              <a:rPr lang="en-US" sz="1400" dirty="0">
                <a:latin typeface="Verdana"/>
                <a:cs typeface="Verdana"/>
              </a:rPr>
              <a:t>Cloud Native Network 2.0</a:t>
            </a:r>
            <a:r>
              <a:rPr lang="ru-RU" sz="1400" dirty="0">
                <a:latin typeface="Verdana"/>
                <a:cs typeface="Verdana"/>
              </a:rPr>
              <a:t>)</a:t>
            </a:r>
            <a:endParaRPr lang="en-US" sz="1400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Cloud Container Engine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8C2D27F-9E7C-4EB1-821C-4E4922250B7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72000" y="2266950"/>
            <a:ext cx="3982006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829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20343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Это сервис управления базами данных с комплексным мониторингом производительности и многоуровневой системой безопасности.</a:t>
            </a:r>
            <a:br>
              <a:rPr lang="ru-RU" sz="1400" dirty="0">
                <a:latin typeface="Verdana"/>
                <a:cs typeface="Verdana"/>
              </a:rPr>
            </a:br>
            <a:endParaRPr lang="ru-RU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Сервис поддерживает: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MySQL;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ru-RU" sz="1400" dirty="0" err="1">
                <a:latin typeface="Verdana"/>
                <a:cs typeface="Verdana"/>
              </a:rPr>
              <a:t>PostgreSQL</a:t>
            </a:r>
            <a:r>
              <a:rPr lang="ru-RU" sz="1400" dirty="0">
                <a:latin typeface="Verdana"/>
                <a:cs typeface="Verdana"/>
              </a:rPr>
              <a:t>;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en-US" sz="1400" dirty="0">
                <a:latin typeface="Verdana"/>
                <a:cs typeface="Verdana"/>
              </a:rPr>
              <a:t>Microsoft</a:t>
            </a:r>
            <a:r>
              <a:rPr lang="ru-RU" sz="1400" dirty="0">
                <a:latin typeface="Verdana"/>
                <a:cs typeface="Verdana"/>
              </a:rPr>
              <a:t> SQL Server.</a:t>
            </a:r>
            <a:endParaRPr lang="en-US" sz="1400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Cloud Relational Database Service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965564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20471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Это сервис для развертывания и управления кластерами </a:t>
            </a:r>
            <a:r>
              <a:rPr lang="ru-RU" sz="1400" dirty="0" err="1">
                <a:latin typeface="Verdana"/>
                <a:cs typeface="Verdana"/>
              </a:rPr>
              <a:t>Kafka</a:t>
            </a:r>
            <a:r>
              <a:rPr lang="ru-RU" sz="1400" dirty="0">
                <a:latin typeface="Verdana"/>
                <a:cs typeface="Verdana"/>
              </a:rPr>
              <a:t> в инфраструктуре платформы Evolution.</a:t>
            </a: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В </a:t>
            </a:r>
            <a:r>
              <a:rPr lang="en-US" sz="1400" dirty="0">
                <a:latin typeface="Verdana"/>
                <a:cs typeface="Verdana"/>
              </a:rPr>
              <a:t>Distributed Message Service for Kafka </a:t>
            </a:r>
            <a:r>
              <a:rPr lang="ru-RU" sz="1400" dirty="0">
                <a:latin typeface="Verdana"/>
                <a:cs typeface="Verdana"/>
              </a:rPr>
              <a:t>на выбор есть две версии: 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en-US" sz="1400" dirty="0" err="1">
                <a:latin typeface="Verdana"/>
                <a:cs typeface="Verdana"/>
              </a:rPr>
              <a:t>Kafkra</a:t>
            </a:r>
            <a:r>
              <a:rPr lang="en-US" sz="1400" dirty="0">
                <a:latin typeface="Verdana"/>
                <a:cs typeface="Verdana"/>
              </a:rPr>
              <a:t> 1.1.0 </a:t>
            </a: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en-US" sz="1400" dirty="0">
                <a:latin typeface="Verdana"/>
                <a:cs typeface="Verdana"/>
              </a:rPr>
              <a:t>Kafka 2.3.0.</a:t>
            </a:r>
            <a:endParaRPr lang="ru-RU" sz="14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endParaRPr lang="en-US" sz="1400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Cloud Managed Kafka 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97A3BBF-B462-405F-8DEB-51529411CE5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38600" y="1564095"/>
            <a:ext cx="4544059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739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496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en-US" sz="1400" dirty="0" err="1">
                <a:latin typeface="Verdana"/>
                <a:cs typeface="Verdana"/>
                <a:hlinkClick r:id="rId2"/>
              </a:rPr>
              <a:t>Selectel</a:t>
            </a:r>
            <a:r>
              <a:rPr lang="en-US" sz="1400" dirty="0">
                <a:latin typeface="Verdana"/>
                <a:cs typeface="Verdana"/>
              </a:rPr>
              <a:t>, </a:t>
            </a:r>
            <a:r>
              <a:rPr lang="ru-RU" sz="1400" dirty="0">
                <a:latin typeface="Verdana"/>
                <a:cs typeface="Verdana"/>
              </a:rPr>
              <a:t>а еще можно почитать </a:t>
            </a:r>
            <a:r>
              <a:rPr lang="ru-RU" sz="1400" dirty="0">
                <a:latin typeface="Verdana"/>
                <a:cs typeface="Verdana"/>
                <a:hlinkClick r:id="rId3"/>
              </a:rPr>
              <a:t>статью</a:t>
            </a:r>
            <a:endParaRPr lang="en-US" sz="1400" dirty="0">
              <a:latin typeface="Verdana"/>
              <a:cs typeface="Verdana"/>
            </a:endParaRPr>
          </a:p>
          <a:p>
            <a:pPr marL="393700" marR="556260" indent="-381000">
              <a:lnSpc>
                <a:spcPct val="114999"/>
              </a:lnSpc>
              <a:spcBef>
                <a:spcPts val="100"/>
              </a:spcBef>
              <a:buFont typeface="MS PGothic"/>
              <a:buChar char="➔"/>
              <a:tabLst>
                <a:tab pos="393065" algn="l"/>
                <a:tab pos="393700" algn="l"/>
              </a:tabLst>
            </a:pPr>
            <a:r>
              <a:rPr lang="en-US" sz="1400" dirty="0">
                <a:latin typeface="Verdana"/>
                <a:cs typeface="Verdana"/>
                <a:hlinkClick r:id="rId4"/>
              </a:rPr>
              <a:t>Beget</a:t>
            </a:r>
            <a:endParaRPr lang="en-US" sz="1400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Selctel</a:t>
            </a: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</a:t>
            </a: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Beget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098" name="Picture 2" descr="Вакансии Selectel">
            <a:extLst>
              <a:ext uri="{FF2B5EF4-FFF2-40B4-BE49-F238E27FC236}">
                <a16:creationId xmlns:a16="http://schemas.microsoft.com/office/drawing/2014/main" id="{5229CC44-FECA-46EC-B281-7488370B5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867604"/>
            <a:ext cx="4953000" cy="1602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689303A-3807-49D3-B448-64FD53EE20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3204460"/>
            <a:ext cx="4041798" cy="193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1586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E4B4B273-1927-433E-869A-6149AEF576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9" y="0"/>
            <a:ext cx="91440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EBAEA-E2E1-4303-8760-65BF05FC3358}"/>
              </a:ext>
            </a:extLst>
          </p:cNvPr>
          <p:cNvSpPr txBox="1"/>
          <p:nvPr/>
        </p:nvSpPr>
        <p:spPr>
          <a:xfrm>
            <a:off x="876300" y="2114550"/>
            <a:ext cx="7391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2. Типы вычислительных ресурсов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1DFCB-A591-465A-8C38-2EAC76BD7B71}"/>
              </a:ext>
            </a:extLst>
          </p:cNvPr>
          <p:cNvSpPr txBox="1"/>
          <p:nvPr/>
        </p:nvSpPr>
        <p:spPr>
          <a:xfrm>
            <a:off x="1143000" y="4629150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* 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Аппаратное ускорение НН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307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4836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Центральный процессор (CPU) — это основной процессор, который существует во всех </a:t>
            </a:r>
            <a:r>
              <a:rPr lang="en-US" sz="1400" dirty="0">
                <a:latin typeface="Verdana"/>
                <a:cs typeface="Verdana"/>
              </a:rPr>
              <a:t>PC</a:t>
            </a:r>
            <a:r>
              <a:rPr lang="ru-RU" sz="1400" dirty="0">
                <a:latin typeface="Verdana"/>
                <a:cs typeface="Verdana"/>
              </a:rPr>
              <a:t>.</a:t>
            </a:r>
            <a:endParaRPr lang="en-US" sz="1400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Central Processing Unit (CPU)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11D02F4-A159-4E77-B1BC-7139100EC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495550"/>
            <a:ext cx="4191000" cy="2357438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F22AAA26-C381-4140-8CA8-2E552FDE8DF2}"/>
              </a:ext>
            </a:extLst>
          </p:cNvPr>
          <p:cNvSpPr txBox="1"/>
          <p:nvPr/>
        </p:nvSpPr>
        <p:spPr>
          <a:xfrm>
            <a:off x="2667000" y="2114550"/>
            <a:ext cx="4074840" cy="2358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Это ничто иное как ваш процессор</a:t>
            </a:r>
            <a:endParaRPr lang="en-US" sz="1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0538036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4836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GPU (графический процессор) — это специализированный процессор, который работает как ускоритель производительности вместе с CPU.</a:t>
            </a:r>
            <a:endParaRPr lang="en-US" sz="1400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Graphics Processing Unit (GPU)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146" name="Picture 2" descr="GPU Power Supply: Optimizing Your GPU Performance | FSP TECHNOLOGY INC.">
            <a:extLst>
              <a:ext uri="{FF2B5EF4-FFF2-40B4-BE49-F238E27FC236}">
                <a16:creationId xmlns:a16="http://schemas.microsoft.com/office/drawing/2014/main" id="{1BB2B740-605D-4C2F-A37D-C2BA37013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912" y="2567163"/>
            <a:ext cx="449580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5EF91AA7-F103-4410-A802-CC91043CB722}"/>
              </a:ext>
            </a:extLst>
          </p:cNvPr>
          <p:cNvSpPr txBox="1"/>
          <p:nvPr/>
        </p:nvSpPr>
        <p:spPr>
          <a:xfrm>
            <a:off x="420960" y="2122270"/>
            <a:ext cx="4074840" cy="2358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Это ничто иное как ваша видеокарта</a:t>
            </a:r>
            <a:endParaRPr lang="en-US" sz="1400" dirty="0">
              <a:latin typeface="Verdana"/>
              <a:cs typeface="Verdana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9E827A11-C5C5-4F4E-8434-1FA410147922}"/>
              </a:ext>
            </a:extLst>
          </p:cNvPr>
          <p:cNvSpPr txBox="1"/>
          <p:nvPr/>
        </p:nvSpPr>
        <p:spPr>
          <a:xfrm>
            <a:off x="5410200" y="2122270"/>
            <a:ext cx="2743200" cy="4836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А точнее, такой же чип на плате видеокарты</a:t>
            </a:r>
            <a:endParaRPr lang="en-US" sz="1400" dirty="0">
              <a:latin typeface="Verdana"/>
              <a:cs typeface="Verdana"/>
            </a:endParaRPr>
          </a:p>
        </p:txBody>
      </p:sp>
      <p:pic>
        <p:nvPicPr>
          <p:cNvPr id="6148" name="Picture 4" descr="GPU Processing">
            <a:extLst>
              <a:ext uri="{FF2B5EF4-FFF2-40B4-BE49-F238E27FC236}">
                <a16:creationId xmlns:a16="http://schemas.microsoft.com/office/drawing/2014/main" id="{0B564461-2E86-4BBF-9130-A585CE6D0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800350"/>
            <a:ext cx="3149600" cy="192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5692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4836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TPU — это процессор, разработанный компанией Google специально для ускорения задач машинного обучения.</a:t>
            </a:r>
            <a:endParaRPr lang="en-US" sz="1400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Tensor Processing Unit (TPU)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5EF91AA7-F103-4410-A802-CC91043CB722}"/>
              </a:ext>
            </a:extLst>
          </p:cNvPr>
          <p:cNvSpPr txBox="1"/>
          <p:nvPr/>
        </p:nvSpPr>
        <p:spPr>
          <a:xfrm>
            <a:off x="990600" y="2283203"/>
            <a:ext cx="4074840" cy="2389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>
                <a:latin typeface="Verdana"/>
                <a:cs typeface="Verdana"/>
              </a:rPr>
              <a:t>А вот и наш малыш </a:t>
            </a:r>
            <a:r>
              <a:rPr lang="en-US" sz="1400" dirty="0">
                <a:latin typeface="Verdana"/>
                <a:cs typeface="Verdana"/>
              </a:rPr>
              <a:t>TPU</a:t>
            </a:r>
            <a:r>
              <a:rPr lang="ru-RU" sz="1400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  <a:sym typeface="Wingdings" panose="05000000000000000000" pitchFamily="2" charset="2"/>
              </a:rPr>
              <a:t></a:t>
            </a:r>
            <a:endParaRPr lang="en-US" sz="1400" dirty="0">
              <a:latin typeface="Verdana"/>
              <a:cs typeface="Verdana"/>
            </a:endParaRPr>
          </a:p>
        </p:txBody>
      </p:sp>
      <p:pic>
        <p:nvPicPr>
          <p:cNvPr id="7170" name="Picture 2" descr="Google раскрывает технические детали и обосновывает экономическую  целесообразность процессора TPU">
            <a:extLst>
              <a:ext uri="{FF2B5EF4-FFF2-40B4-BE49-F238E27FC236}">
                <a16:creationId xmlns:a16="http://schemas.microsoft.com/office/drawing/2014/main" id="{6DA25CB5-E517-41BF-98B0-B2D86E5DA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504" y="2594463"/>
            <a:ext cx="4036109" cy="242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DCA32D-EFBD-4475-950F-BF33E45EA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988345"/>
            <a:ext cx="4243043" cy="300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653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E4B4B273-1927-433E-869A-6149AEF576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EBAEA-E2E1-4303-8760-65BF05FC3358}"/>
              </a:ext>
            </a:extLst>
          </p:cNvPr>
          <p:cNvSpPr txBox="1"/>
          <p:nvPr/>
        </p:nvSpPr>
        <p:spPr>
          <a:xfrm>
            <a:off x="876300" y="2114550"/>
            <a:ext cx="7391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3. Архитектура: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Stateless vs Stateful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16F10A-F351-4F00-AEAF-0CE1E0F8EBBA}"/>
              </a:ext>
            </a:extLst>
          </p:cNvPr>
          <p:cNvSpPr txBox="1"/>
          <p:nvPr/>
        </p:nvSpPr>
        <p:spPr>
          <a:xfrm>
            <a:off x="1219200" y="3751243"/>
            <a:ext cx="7391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* </a:t>
            </a:r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hlinkClick r:id="rId3"/>
              </a:rPr>
              <a:t>Stateless and Stateful Systems in System Design</a:t>
            </a:r>
            <a:endParaRPr lang="ru-RU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ru-RU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ru-RU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** </a:t>
            </a:r>
            <a:r>
              <a:rPr lang="ru-RU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hlinkClick r:id="rId4"/>
              </a:rPr>
              <a:t>Определения понятий </a:t>
            </a:r>
            <a:r>
              <a:rPr lang="ru-RU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hlinkClick r:id="rId4"/>
              </a:rPr>
              <a:t>Stateful</a:t>
            </a:r>
            <a:r>
              <a:rPr lang="ru-RU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hlinkClick r:id="rId4"/>
              </a:rPr>
              <a:t> и </a:t>
            </a:r>
            <a:r>
              <a:rPr lang="ru-RU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hlinkClick r:id="rId4"/>
              </a:rPr>
              <a:t>Stateless</a:t>
            </a:r>
            <a:r>
              <a:rPr lang="ru-RU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hlinkClick r:id="rId4"/>
              </a:rPr>
              <a:t> в контексте веб-сервисов</a:t>
            </a:r>
            <a:endParaRPr lang="ru-RU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4322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731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 err="1">
                <a:latin typeface="Verdana"/>
                <a:cs typeface="Verdana"/>
              </a:rPr>
              <a:t>Stateful</a:t>
            </a:r>
            <a:r>
              <a:rPr lang="ru-RU" sz="1400" dirty="0">
                <a:latin typeface="Verdana"/>
                <a:cs typeface="Verdana"/>
              </a:rPr>
              <a:t> (с сохранением состояния) архитектура подразумевает, что система сохраняет информацию о предыдущих состояниях или взаимодействиях с клиентами.</a:t>
            </a:r>
            <a:endParaRPr lang="en-US" sz="1400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Stateful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E61510D-8782-482C-90C8-F7D50D0C81A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52600" y="2343150"/>
            <a:ext cx="5186363" cy="259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3487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Stateful</a:t>
            </a:r>
            <a:r>
              <a:rPr lang="ru-RU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Таблица 4">
            <a:extLst>
              <a:ext uri="{FF2B5EF4-FFF2-40B4-BE49-F238E27FC236}">
                <a16:creationId xmlns:a16="http://schemas.microsoft.com/office/drawing/2014/main" id="{B8C49AB1-A977-4723-B9A5-8054668FA9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454730"/>
              </p:ext>
            </p:extLst>
          </p:nvPr>
        </p:nvGraphicFramePr>
        <p:xfrm>
          <a:off x="1257300" y="1200150"/>
          <a:ext cx="66294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4700">
                  <a:extLst>
                    <a:ext uri="{9D8B030D-6E8A-4147-A177-3AD203B41FA5}">
                      <a16:colId xmlns:a16="http://schemas.microsoft.com/office/drawing/2014/main" val="190213128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159777488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ru-RU" dirty="0"/>
                        <a:t>Преимущества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Недостатки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28610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ru-RU" sz="1600" b="0" i="0" dirty="0">
                          <a:solidFill>
                            <a:schemeClr val="dk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Сохранение состояния между запросами</a:t>
                      </a:r>
                      <a:endParaRPr lang="ru-RU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Требуется сохранение состояния на сервере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97872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Упрощение программной логики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Изменение состояния может быть сложным и приводить к ошибкам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13520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Более простая обработка и восстановление после ошибок или сбоев.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Ограниченная отказоустойчивость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457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2108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23504" y="1371121"/>
            <a:ext cx="7989570" cy="4836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6260">
              <a:lnSpc>
                <a:spcPct val="114999"/>
              </a:lnSpc>
              <a:spcBef>
                <a:spcPts val="100"/>
              </a:spcBef>
              <a:tabLst>
                <a:tab pos="393065" algn="l"/>
                <a:tab pos="393700" algn="l"/>
              </a:tabLst>
            </a:pPr>
            <a:r>
              <a:rPr lang="ru-RU" sz="1400" dirty="0" err="1">
                <a:latin typeface="Verdana"/>
                <a:cs typeface="Verdana"/>
              </a:rPr>
              <a:t>Stateless</a:t>
            </a:r>
            <a:r>
              <a:rPr lang="ru-RU" sz="1400" dirty="0">
                <a:latin typeface="Verdana"/>
                <a:cs typeface="Verdana"/>
              </a:rPr>
              <a:t> (без сохранения состояния) архитектура не сохраняет информацию о предыдущих состояниях или сеансах. </a:t>
            </a:r>
            <a:endParaRPr lang="en-US" sz="1400" dirty="0"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Stateless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EE80B1-BCEE-417A-833B-EAF6779B8DC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24000" y="1962150"/>
            <a:ext cx="6096000" cy="305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6727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250" y="249282"/>
            <a:ext cx="8174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b="1" spc="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Stateless</a:t>
            </a:r>
            <a:endParaRPr lang="en-US" b="1" spc="9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" name="Таблица 4">
            <a:extLst>
              <a:ext uri="{FF2B5EF4-FFF2-40B4-BE49-F238E27FC236}">
                <a16:creationId xmlns:a16="http://schemas.microsoft.com/office/drawing/2014/main" id="{B8C49AB1-A977-4723-B9A5-8054668FA9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899662"/>
              </p:ext>
            </p:extLst>
          </p:nvPr>
        </p:nvGraphicFramePr>
        <p:xfrm>
          <a:off x="1257300" y="1200150"/>
          <a:ext cx="6629400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4700">
                  <a:extLst>
                    <a:ext uri="{9D8B030D-6E8A-4147-A177-3AD203B41FA5}">
                      <a16:colId xmlns:a16="http://schemas.microsoft.com/office/drawing/2014/main" val="190213128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159777488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ru-RU" dirty="0"/>
                        <a:t>Преимущества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Недостатки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28610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ru-RU" sz="1600" b="0" i="0" dirty="0">
                          <a:solidFill>
                            <a:schemeClr val="dk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+mn-cs"/>
                        </a:rPr>
                        <a:t>Лучшая масштабируемость</a:t>
                      </a:r>
                      <a:endParaRPr lang="ru-RU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Отсутствие сохранения состояния может усложнить реализацию некоторых функций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97872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Упрощенная разработка и тестирование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Дополнительная нагрузка может возникнуть при повторяющихся запросах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113520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Более высокая отказоустойчивость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457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82962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/>
        </p:nvSpPr>
        <p:spPr>
          <a:xfrm>
            <a:off x="540000" y="504000"/>
            <a:ext cx="7560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за внимание!</a:t>
            </a:r>
            <a:endParaRPr sz="30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1" name="Google Shape;22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45688"/>
            <a:ext cx="9144000" cy="3267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1341</TotalTime>
  <Words>858</Words>
  <Application>Microsoft Office PowerPoint</Application>
  <PresentationFormat>Экран (16:9)</PresentationFormat>
  <Paragraphs>153</Paragraphs>
  <Slides>29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6" baseType="lpstr">
      <vt:lpstr>MS PGothic</vt:lpstr>
      <vt:lpstr>-apple-system</vt:lpstr>
      <vt:lpstr>Arial</vt:lpstr>
      <vt:lpstr>Calibri</vt:lpstr>
      <vt:lpstr>Montserrat</vt:lpstr>
      <vt:lpstr>Verdana</vt:lpstr>
      <vt:lpstr>Office Theme</vt:lpstr>
      <vt:lpstr>Презентация PowerPoint</vt:lpstr>
      <vt:lpstr>План занятия</vt:lpstr>
      <vt:lpstr>Презентация PowerPoint</vt:lpstr>
      <vt:lpstr>Презентация PowerPoint</vt:lpstr>
      <vt:lpstr>Yandex Object Storage</vt:lpstr>
      <vt:lpstr>Yandex Managed Service for Kubernetes</vt:lpstr>
      <vt:lpstr>Yandex Managed Service for PostgreSQL</vt:lpstr>
      <vt:lpstr>Yandex Managed Service for Apache Kafka</vt:lpstr>
      <vt:lpstr>Презентация PowerPoint</vt:lpstr>
      <vt:lpstr>VK Object Storage</vt:lpstr>
      <vt:lpstr>VK Cloud Containers</vt:lpstr>
      <vt:lpstr>VK Cloud Databases</vt:lpstr>
      <vt:lpstr>VK Cloud Kafka</vt:lpstr>
      <vt:lpstr>Презентация PowerPoint</vt:lpstr>
      <vt:lpstr>Cloud Object Storage</vt:lpstr>
      <vt:lpstr>Cloud Container Engine</vt:lpstr>
      <vt:lpstr>Cloud Relational Database Service</vt:lpstr>
      <vt:lpstr>Cloud Managed Kafka </vt:lpstr>
      <vt:lpstr>Selctel и Beget</vt:lpstr>
      <vt:lpstr>Презентация PowerPoint</vt:lpstr>
      <vt:lpstr>Central Processing Unit (CPU)</vt:lpstr>
      <vt:lpstr>Graphics Processing Unit (GPU)</vt:lpstr>
      <vt:lpstr>Tensor Processing Unit (TPU)</vt:lpstr>
      <vt:lpstr>Презентация PowerPoint</vt:lpstr>
      <vt:lpstr>Stateful</vt:lpstr>
      <vt:lpstr>Stateful </vt:lpstr>
      <vt:lpstr>Stateless</vt:lpstr>
      <vt:lpstr>Stateless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Формирование рабочего процесса: Acceptance criterias, DoR и DoD и ограничения гибких методологий</dc:title>
  <cp:lastModifiedBy>Константин Некрасов</cp:lastModifiedBy>
  <cp:revision>245</cp:revision>
  <dcterms:created xsi:type="dcterms:W3CDTF">2024-04-17T14:30:02Z</dcterms:created>
  <dcterms:modified xsi:type="dcterms:W3CDTF">2025-11-10T09:40:03Z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