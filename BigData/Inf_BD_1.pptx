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9144000" cy="5143500"/>
  <p:embeddedFontLst>
    <p:embeddedFont>
      <p:font typeface="Montserrat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8">
          <p15:clr>
            <a:srgbClr val="000000"/>
          </p15:clr>
        </p15:guide>
        <p15:guide id="2" orient="horz" pos="1223">
          <p15:clr>
            <a:srgbClr val="000000"/>
          </p15:clr>
        </p15:guide>
        <p15:guide id="3" orient="horz" pos="1686">
          <p15:clr>
            <a:srgbClr val="000000"/>
          </p15:clr>
        </p15:guide>
        <p15:guide id="4" pos="2034">
          <p15:clr>
            <a:srgbClr val="000000"/>
          </p15:clr>
        </p15:guide>
        <p15:guide id="5" pos="3807">
          <p15:clr>
            <a:srgbClr val="000000"/>
          </p15:clr>
        </p15:guide>
        <p15:guide id="6" orient="horz" pos="1142">
          <p15:clr>
            <a:srgbClr val="000000"/>
          </p15:clr>
        </p15:guide>
        <p15:guide id="7" pos="11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3ED150-5592-4447-A835-42ACCF85A458}">
  <a:tblStyle styleId="{ED3ED150-5592-4447-A835-42ACCF85A4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8" orient="horz"/>
        <p:guide pos="1223" orient="horz"/>
        <p:guide pos="1686" orient="horz"/>
        <p:guide pos="2034"/>
        <p:guide pos="3807"/>
        <p:guide pos="1142" orient="horz"/>
        <p:guide pos="1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font" Target="fonts/Montserrat-bold.fntdata"/><Relationship Id="rId23" Type="http://schemas.openxmlformats.org/officeDocument/2006/relationships/slide" Target="slides/slide17.xml"/><Relationship Id="rId45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Montserrat-boldItalic.fntdata"/><Relationship Id="rId25" Type="http://schemas.openxmlformats.org/officeDocument/2006/relationships/slide" Target="slides/slide19.xml"/><Relationship Id="rId47" Type="http://schemas.openxmlformats.org/officeDocument/2006/relationships/font" Target="fonts/Montserrat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20affec7_1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7f20affec7_1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d3169f3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ed3169f3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d3169f3d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d3169f3d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f20affec7_1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f20affec7_1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f20affec7_1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7f20affec7_1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53c043a8_0_6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153c043a8_0_6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f20affec7_1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7f20affec7_1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20affec7_1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f20affec7_1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ed3169f3d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7ed3169f3d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ed3169f3d_0_9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7ed3169f3d_0_9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ed3169f3d_0_1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7ed3169f3d_0_1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ed3169f3d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7ed3169f3d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f20affec7_1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7f20affec7_1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f20affec7_1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f20affec7_1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f20affec7_1_10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7f20affec7_1_10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153c043a8_0_8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153c043a8_0_8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153c043a8_0_13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153c043a8_0_13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53c043a8_0_5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153c043a8_0_5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153c043a8_0_1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9153c043a8_0_1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53c043a8_0_10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153c043a8_0_10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153c043a8_0_2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153c043a8_0_2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153c043a8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153c043a8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53c043a8_0_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153c043a8_0_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f20affec7_1_1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7f20affec7_1_1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53c043a8_0_14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153c043a8_0_14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153c043a8_0_15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9153c043a8_0_15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53c043a8_0_5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9153c043a8_0_5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f20affec7_1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7f20affec7_1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153c043a8_0_14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153c043a8_0_14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153c043a8_0_1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9153c043a8_0_1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153c043a8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9153c043a8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153c043a8_0_12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153c043a8_0_12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слайд ">
  <p:cSld name="3_TITLE">
    <p:bg>
      <p:bgPr>
        <a:solidFill>
          <a:srgbClr val="FFFAED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3_Пользовательский макет">
    <p:bg>
      <p:bgPr>
        <a:solidFill>
          <a:srgbClr val="005FA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" type="body"/>
          </p:nvPr>
        </p:nvSpPr>
        <p:spPr>
          <a:xfrm>
            <a:off x="2116075" y="2921149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  <a:defRPr b="0" i="0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урока" type="title">
  <p:cSld name="TITLE">
    <p:bg>
      <p:bgPr>
        <a:solidFill>
          <a:srgbClr val="005FA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755" y="4402626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828" y="3814494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/>
        </p:nvSpPr>
        <p:spPr>
          <a:xfrm rot="2700000">
            <a:off x="2322864" y="4279502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660316" y="4113011"/>
            <a:ext cx="390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590741" y="4659084"/>
            <a:ext cx="3901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6"/>
          <p:cNvSpPr txBox="1"/>
          <p:nvPr/>
        </p:nvSpPr>
        <p:spPr>
          <a:xfrm>
            <a:off x="344425" y="120225"/>
            <a:ext cx="79896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Hive для аналитики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7946" y="1740333"/>
            <a:ext cx="10902502" cy="39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5900" y="1075300"/>
            <a:ext cx="2257500" cy="203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photo_2022-09-13_13-44-00.jpg"/>
          <p:cNvPicPr preferRelativeResize="0"/>
          <p:nvPr/>
        </p:nvPicPr>
        <p:blipFill rotWithShape="1">
          <a:blip r:embed="rId3">
            <a:alphaModFix/>
          </a:blip>
          <a:srcRect b="0" l="2945" r="2945" t="0"/>
          <a:stretch/>
        </p:blipFill>
        <p:spPr>
          <a:xfrm>
            <a:off x="6445550" y="1416525"/>
            <a:ext cx="2088000" cy="25200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  <p:sp>
        <p:nvSpPr>
          <p:cNvPr id="32" name="Google Shape;32;p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265000" y="1203325"/>
            <a:ext cx="59700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Профессиональный опыт в Data Science с 2010 года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Участвовала в научно-исследовательских и коммерческих проектах в области анализа сигналов, рекомендательных систем и биотехнологий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Оказываю консалтинговые услуги по внедрению решений на базе искусственного интеллекта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проекты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НИИ ИПЭЭ РАН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	– Разработка программного обеспечения для настройки оборудования исследования пространственного слуха китообразных.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Медицинские центры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– Создание и внедрение рекомендательных систем для оптимальной настройки нейростимуляторов пациентам.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Цель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540000" y="1440000"/>
            <a:ext cx="5277600" cy="16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Чётко определить место Hive в экосистеме больших данных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Обоснованно выбирать стратегии оптимизации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Спроектировать структуру хранения данных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концепции Big Data с реальными задачами Machine Learning.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-47" r="47704" t="7475"/>
          <a:stretch/>
        </p:blipFill>
        <p:spPr>
          <a:xfrm flipH="1" rot="10800000">
            <a:off x="5801183" y="1213701"/>
            <a:ext cx="3562624" cy="39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231051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466650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000" y="1466902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9954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/>
        </p:nvSpPr>
        <p:spPr>
          <a:xfrm>
            <a:off x="864009" y="13300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Позиционирование Hive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930333" y="1440000"/>
            <a:ext cx="3019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Итоги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64009" y="2098200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и принцип работы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864009" y="2866383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Стратегии управления данными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7" y="37598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/>
        </p:nvSpPr>
        <p:spPr>
          <a:xfrm>
            <a:off x="863998" y="36785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методы оптимизации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ПОЗИЦИОНИРОВАНИЕ HIVE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109196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40000" y="504000"/>
            <a:ext cx="7971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Проблемное пространство: «До Hive»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00" y="2133250"/>
            <a:ext cx="8839199" cy="127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/>
        </p:nvSpPr>
        <p:spPr>
          <a:xfrm>
            <a:off x="540000" y="504000"/>
            <a:ext cx="75600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Решение: Hive как «компилятор» или «переводчик»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8200"/>
            <a:ext cx="8780570" cy="184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540000" y="504000"/>
            <a:ext cx="7560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Apache Hive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90275" y="1074175"/>
            <a:ext cx="874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Пакетная аналитика больших данных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75" y="1779502"/>
            <a:ext cx="7233150" cy="25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708300" y="237100"/>
            <a:ext cx="8463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latin typeface="Montserrat"/>
                <a:ea typeface="Montserrat"/>
                <a:cs typeface="Montserrat"/>
                <a:sym typeface="Montserrat"/>
              </a:rPr>
              <a:t>Ключевое отличие: Hive vs Классические СУБД (OLTP)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6" name="Google Shape;86;p14"/>
          <p:cNvGraphicFramePr/>
          <p:nvPr/>
        </p:nvGraphicFramePr>
        <p:xfrm>
          <a:off x="575525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{ED3ED150-5592-4447-A835-42ACCF85A458}</a:tableStyleId>
              </a:tblPr>
              <a:tblGrid>
                <a:gridCol w="3943350"/>
                <a:gridCol w="4000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Классическая СУБД (PostgreSQL, MySQL)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Apache Hive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Онлайн-обработка транзакций (OLTP)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Пакетная аналитика (OLAP)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Миллисекунды на запрос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Минуты/часы на запрос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Schema-on-Write: данные проверяются при вставке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Schema-on-Read: схема применяется при чтении файлов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Частые INSERT/UPDATE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Редкие, тяжёлые INSERT, почти нет UPDATE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Цель: обслужить пользователя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Цель: проанализировать данные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/>
        </p:nvSpPr>
        <p:spPr>
          <a:xfrm>
            <a:off x="3368850" y="209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«Фабрика аналитики»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63" y="609450"/>
            <a:ext cx="8169466" cy="42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48650" y="272025"/>
            <a:ext cx="66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Montserrat"/>
                <a:ea typeface="Montserrat"/>
                <a:cs typeface="Montserrat"/>
                <a:sym typeface="Montserrat"/>
              </a:rPr>
              <a:t>Пример: как выглядит запрос в Hive?</a:t>
            </a:r>
            <a:endParaRPr b="1"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04450" y="1353125"/>
            <a:ext cx="30000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Создание таблицы с партиционированием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EXTERNAL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logs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user_id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STRING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PARTITIONED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STRING)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STORED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PARQUET</a:t>
            </a:r>
            <a:endParaRPr sz="105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'/data/logs/'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11525" y="3836150"/>
            <a:ext cx="345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Синтаксис похож на SQL, но выполняется на Hadoop!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673150" y="1353125"/>
            <a:ext cx="30000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user_logs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user_id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session_duration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device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log_date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endParaRPr sz="105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408100" y="3096825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Партиционирование потребует отдельной настройки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Формат хранения фиксированный (не Parquet)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Расположение на диске управляется СУБД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540000" y="504000"/>
            <a:ext cx="70470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HIVE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Как он устроен внутри?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0123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484200" y="3157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в Data Lake экосистеме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850" y="949500"/>
            <a:ext cx="6577923" cy="406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Hive Metastore ≠ Hive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00" y="1475175"/>
            <a:ext cx="7847726" cy="255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Metastore, </a:t>
            </a: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 карта</a:t>
            </a: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Data Lake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575" y="992400"/>
            <a:ext cx="3704535" cy="38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179400" y="183150"/>
            <a:ext cx="8025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Паттерн использования: "Пиши один раз, читай многими"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1" title="deepseek_mermaid_20251204_b30f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00" y="1047150"/>
            <a:ext cx="3577738" cy="384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Конкретный пример: Текстовые данные и эмбеддинги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650" y="1581225"/>
            <a:ext cx="5574701" cy="301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/>
        </p:nvSpPr>
        <p:spPr>
          <a:xfrm>
            <a:off x="358650" y="299425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данными: Internal vs External Tables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deepseek_mermaid_20251204_2797e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700" y="980125"/>
            <a:ext cx="3185219" cy="384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Internal (Managed) Tables: Для временных рабочих данных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 title="deepseek_mermaid_20251204_78c3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00" y="1812925"/>
            <a:ext cx="8662748" cy="224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External Tables (Основной паттерн для Data Lake)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25" title="deepseek_mermaid_20251204_27a8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175" y="1263977"/>
            <a:ext cx="6476549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External Table: Hive vs SQL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1297325" y="711425"/>
            <a:ext cx="58659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HiveQL (внешнее управление данными):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EXTERNAL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medical_data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patient_id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diagnosis STRING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'hdfs://medical/raw/'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Данные остаются в HDFS, Hive только "видит" их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❌ Классический SQL:</a:t>
            </a:r>
            <a:endParaRPr sz="10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medical_data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patient_id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diagnosis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Данные управляются СУБД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Внешние таблицы есть не во всех СУБД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Hive vs Spark SQL vs Impala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1" name="Google Shape;171;p27"/>
          <p:cNvGraphicFramePr/>
          <p:nvPr/>
        </p:nvGraphicFramePr>
        <p:xfrm>
          <a:off x="619725" y="161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{ED3ED150-5592-4447-A835-42ACCF85A458}</a:tableStyleId>
              </a:tblPr>
              <a:tblGrid>
                <a:gridCol w="985800"/>
                <a:gridCol w="2114925"/>
                <a:gridCol w="1460525"/>
                <a:gridCol w="1101250"/>
                <a:gridCol w="18354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Инструмент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Скорость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Тип обработки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Поддержка Hive Metastore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Лучший use case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Hive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Медленно (минуты/часы)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Пакетная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Полная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ETL, ночные задания, трансформация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Spark SQL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Быстро (секунды/минуты)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Пакетная + Стриминг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ML pipelines, сложные агрегации, стриминг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Impala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Очень быстро (миллисекунды/секунды)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Интерактивная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Ad-hoc аналитика, дашборды, BI-запросы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/>
        </p:nvSpPr>
        <p:spPr>
          <a:xfrm>
            <a:off x="540000" y="504000"/>
            <a:ext cx="70470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ДАННЫМИ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Партиционирование, бакетирование, форматы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109196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540000" y="185950"/>
            <a:ext cx="80109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№1: 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Партиционирование — Физическое разделение данных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29" title="deepseek_mermaid_20251204_f31c7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5138"/>
            <a:ext cx="8839204" cy="12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Партиционирование: сравнение подходов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4076675" y="1131900"/>
            <a:ext cx="39339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❌ SQL (логическое партиционирование):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logs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user_id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month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05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PARTITION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month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Все данные в одном файле/табличном пространстве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Использует индексы для фильтрации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668525" y="1240475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HiveQL (физическое разделение):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logs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user_id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action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STRING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PARTITIONED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month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/data/logs/year=2024/month=01/file.parquet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/data/logs/year=2024/month=02/file.parquet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-- Partition pruning: читаем только нужные папки</a:t>
            </a:r>
            <a:endParaRPr sz="105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 партиционирования для текстовых данных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6" name="Google Shape;196;p31" title="deepseek_mermaid_20251204_bd4a9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850" y="1280050"/>
            <a:ext cx="4902241" cy="349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/>
        </p:nvSpPr>
        <p:spPr>
          <a:xfrm>
            <a:off x="540000" y="185950"/>
            <a:ext cx="80109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Оптимизация №2: 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Бакетирование — Умное хэширование внутри партиции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32" title="deepseek_mermaid_20251204_346e7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175" y="1081825"/>
            <a:ext cx="5354004" cy="374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Эволюция от TEXTFILE к Parquet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33" title="deepseek_mermaid_20251204_022a1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00" y="1812925"/>
            <a:ext cx="8839204" cy="96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Общие принципы работы со сложными типами данных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34" title="deepseek_mermaid_20251204_5e3b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2688"/>
            <a:ext cx="8839204" cy="190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ML-пайплайн с Hive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0" name="Google Shape;220;p35"/>
          <p:cNvGraphicFramePr/>
          <p:nvPr/>
        </p:nvGraphicFramePr>
        <p:xfrm>
          <a:off x="611825" y="15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{ED3ED150-5592-4447-A835-42ACCF85A458}</a:tableStyleId>
              </a:tblPr>
              <a:tblGrid>
                <a:gridCol w="1192550"/>
                <a:gridCol w="1741250"/>
                <a:gridCol w="1432575"/>
                <a:gridCol w="2873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Этап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Инструмент/Технология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Что делает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Пример выхода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Raw Data Storage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HDFS / S3 / Data Lake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Хранение сырых данных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/logs/raw/2024/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Data Preparation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Hive (ETL)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Очистка, фильтрация, агрегация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clean_table (Parquet)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Feature Engineering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Hive / Spark SQL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Создание признаков для ML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features_table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Model Training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Spark MLlib / Python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Обучение ML-модели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model.pkl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Model Serving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REST API / MLflow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Обслуживание модели в production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predictions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Monitoring &amp; Feedback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Hive (логи)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Сбор предсказаний для дообучения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feedback_logs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CECD5"/>
                        </a:gs>
                        <a:gs pos="100000">
                          <a:srgbClr val="92BC8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ML-пайплайн с Hive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36" title="deepseek_mermaid_20251204_ef8e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125" y="750025"/>
            <a:ext cx="4845788" cy="416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/>
        </p:nvSpPr>
        <p:spPr>
          <a:xfrm>
            <a:off x="540000" y="504000"/>
            <a:ext cx="7047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ИТОГИ И ВЫВОДЫ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Сильные и слабые стороны Hive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7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932225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Запрос с агрегацией: одинаковый синтаксис!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4198850" y="1077675"/>
            <a:ext cx="36279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Классический SQL (тот же синтаксис!):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device,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sensor_data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'2024-03-20'</a:t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device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(*) &gt; 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466275" y="1513600"/>
            <a:ext cx="30000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HiveQL: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device,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AVG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(*)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sensor_data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5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'2024-03-20'</a:t>
            </a:r>
            <a:endParaRPr sz="105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device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(*) &gt; </a:t>
            </a:r>
            <a:r>
              <a:rPr lang="ru" sz="105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ru" sz="105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240" name="Google Shape;240;p38"/>
          <p:cNvSpPr txBox="1"/>
          <p:nvPr/>
        </p:nvSpPr>
        <p:spPr>
          <a:xfrm>
            <a:off x="1617125" y="3674675"/>
            <a:ext cx="53367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💡 Разница: Hive запускает MapReduce/Spark job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💡 SQL выполняется непосредственно в СУБД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/>
        </p:nvSpPr>
        <p:spPr>
          <a:xfrm>
            <a:off x="540000" y="360400"/>
            <a:ext cx="7560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Проблемы и ограничения Hive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6" name="Google Shape;246;p39"/>
          <p:cNvGraphicFramePr/>
          <p:nvPr/>
        </p:nvGraphicFramePr>
        <p:xfrm>
          <a:off x="382575" y="183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{ED3ED150-5592-4447-A835-42ACCF85A458}</a:tableStyleId>
              </a:tblPr>
              <a:tblGrid>
                <a:gridCol w="2143125"/>
                <a:gridCol w="2971800"/>
                <a:gridCol w="3200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Ограничение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Пояснение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Альтернатива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Медленные запросы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Минуты-часы из-за MapReduce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Spark SQL, Impala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Нет поддержки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Только пакетная обработка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Kafka, Flink, Spark Streaming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Маленькие данные неэффективны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Overhead Hadoop &gt; выгоды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PostgreSQL, MySQL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Ограниченный UPDATE/DELETE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Только через перезапись партиций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Классические СУБД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Простая бизнес-логика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Сложные JOIN и подзапросы медленно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OLAP-движки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Высокая задержка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 для интерактивных запросов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ClickHouse, Druid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lin ang="5400012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Роль Hive в современном стеке данных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40" title="deepseek_mermaid_20251204_2624e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300" y="1380025"/>
            <a:ext cx="5870520" cy="332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HIVE и классических СУБД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8" name="Google Shape;258;p41"/>
          <p:cNvGraphicFramePr/>
          <p:nvPr/>
        </p:nvGraphicFramePr>
        <p:xfrm>
          <a:off x="338550" y="1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{ED3ED150-5592-4447-A835-42ACCF85A458}</a:tableStyleId>
              </a:tblPr>
              <a:tblGrid>
                <a:gridCol w="1409700"/>
                <a:gridCol w="4000500"/>
                <a:gridCol w="2552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Аспект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HiveQL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Классический SQL (OLTP)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FEAFB"/>
                        </a:gs>
                        <a:gs pos="100000">
                          <a:srgbClr val="6E9CE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Цель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Аналитика больших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Транзакционная обработка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Исполнение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MapReduce/Tez/Spark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Непосредственно в СУБД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Партиционирование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Физическое разделение по папкам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Логическое через индексы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Форматы хранения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Parquet, ORC, Avro, TEXTFILE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Собственный бинарный формат СУБД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Типы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Поддержка ARRAY, MAP, STRUCT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Обычно только скалярные типы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Оптимизация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Partition pruning, bucket pruning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Индексы, планировщик запросов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Синтаксис SELECT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Почти идентичен SQL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Стандартный ANSI SQL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Скорость запросов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Минуты/часы (пакетная)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Миллисекунды/секунды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Транзакции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Ограниченная поддержка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Полная ACID-совместимость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UPDATE/DELETE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Нет (перезапись партиций)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Полная поддержка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Стоимость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Открытый исходный код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Лицензионная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Лучший кейс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ETL, подготовка данных для ML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OLTP, веб-приложения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D4E5F5"/>
                        </a:gs>
                        <a:gs pos="100000">
                          <a:srgbClr val="70A4D5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Фундаментальные компромиссы Hive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42" title="deepseek_mermaid_20251204_e736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6000"/>
            <a:ext cx="8609111" cy="332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/>
        </p:nvSpPr>
        <p:spPr>
          <a:xfrm>
            <a:off x="660316" y="4113011"/>
            <a:ext cx="3901199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Фамилия Имя 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660316" y="4321159"/>
            <a:ext cx="3901199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43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2" name="Google Shape;2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471975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killbox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3D3BFF"/>
      </a:accent1>
      <a:accent2>
        <a:srgbClr val="FCACA9"/>
      </a:accent2>
      <a:accent3>
        <a:srgbClr val="262626"/>
      </a:accent3>
      <a:accent4>
        <a:srgbClr val="A5A5A5"/>
      </a:accent4>
      <a:accent5>
        <a:srgbClr val="D8D8D8"/>
      </a:accent5>
      <a:accent6>
        <a:srgbClr val="F2F2F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